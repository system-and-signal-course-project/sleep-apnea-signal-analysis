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ECG Signal Processing for Sleep Apnea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09160"/>
            <a:ext cx="10241280" cy="22860"/>
          </a:xfrm>
          <a:prstGeom prst="rect">
            <a:avLst/>
          </a:prstGeom>
          <a:solidFill>
            <a:srgbClr val="3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1. What the Code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End-to-end signal-processing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B34"/>
                </a:solidFill>
              </a:defRPr>
            </a:pPr>
            <a:r>
              <a:t>Loads an ECG record from the Apnea-ECG dataset using WFDB.</a:t>
            </a:r>
          </a:p>
          <a:p>
            <a:pPr>
              <a:spcAft>
                <a:spcPts val="1200"/>
              </a:spcAft>
              <a:defRPr sz="1900" b="0">
                <a:solidFill>
                  <a:srgbClr val="232B34"/>
                </a:solidFill>
              </a:defRPr>
            </a:pPr>
            <a:r>
              <a:t>Extracts the first ECG channel and inspects its sampling frequency and samples.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B34"/>
                </a:solidFill>
              </a:defRPr>
            </a:pPr>
            <a:r>
              <a:t>Visualizes the first 10 seconds of the raw ECG signal.</a:t>
            </a:r>
          </a:p>
          <a:p>
            <a:pPr>
              <a:spcAft>
                <a:spcPts val="1200"/>
              </a:spcAft>
              <a:defRPr sz="1900" b="0">
                <a:solidFill>
                  <a:srgbClr val="232B34"/>
                </a:solidFill>
              </a:defRPr>
            </a:pPr>
            <a:r>
              <a:t>Reads apnea annotations associated with the record.</a:t>
            </a:r>
          </a:p>
          <a:p>
            <a:pPr>
              <a:spcAft>
                <a:spcPts val="1200"/>
              </a:spcAft>
              <a:defRPr sz="1900" b="0">
                <a:solidFill>
                  <a:srgbClr val="232B34"/>
                </a:solidFill>
              </a:defRPr>
            </a:pPr>
            <a:r>
              <a:t>Preprocesses the ECG by centering, baseline removal, and low-pass filtering.</a:t>
            </a:r>
          </a:p>
          <a:p>
            <a:pPr>
              <a:spcAft>
                <a:spcPts val="1200"/>
              </a:spcAft>
              <a:defRPr sz="1900" b="0">
                <a:solidFill>
                  <a:srgbClr val="232B34"/>
                </a:solidFill>
              </a:defRPr>
            </a:pPr>
            <a:r>
              <a:t>Detects R-peaks, then calculates RR intervals and instantaneous heart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2. Libraries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Main packages and record used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NumPy — numerical arrays and signal operations.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Pandas — imported for data handling.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Matplotlib — ECG and heart-rate visualization.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scikit-learn — train/test split, scaling, and classification metrics are imported, but no ML model is trained in this notebook.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WFDB — reads PhysioNet-style ECG records and annotations.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SciPy — used later for R-peak detection with find_peaks.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Record loaded: a01 from the Apnea-ECG raw-data directory.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3. Loading the ECG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WFDB reads the physiological waveform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492240" cy="3657600"/>
          </a:xfrm>
          <a:prstGeom prst="roundRect">
            <a:avLst/>
          </a:prstGeom>
          <a:solidFill>
            <a:srgbClr val="1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6089903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record = wfdb.rdrecord("../data/data/raw/apnea-ecg/a01")</a:t>
            </a:r>
            <a:br/>
            <a:br/>
            <a:r>
              <a:t>ecg = record.p_signal[:, 0]</a:t>
            </a:r>
            <a:br/>
            <a:r>
              <a:t>fs = record.fs</a:t>
            </a:r>
            <a:br/>
            <a:br/>
            <a:r>
              <a:t>print("Signal shape:", record.p_signal.shape)</a:t>
            </a:r>
            <a:br/>
            <a:r>
              <a:t>print("Sampling frequency:", fs)</a:t>
            </a:r>
            <a:br/>
            <a:r>
              <a:t>print("Channels:", record.sig_name)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08760"/>
            <a:ext cx="36576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783080"/>
            <a:ext cx="310896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23D"/>
                </a:solidFill>
              </a:defRPr>
            </a:pPr>
            <a:r>
              <a:t>Key variables</a:t>
            </a:r>
          </a:p>
          <a:p>
            <a:pPr>
              <a:spcBef>
                <a:spcPts val="1200"/>
              </a:spcBef>
              <a:defRPr sz="1600">
                <a:solidFill>
                  <a:srgbClr val="232B34"/>
                </a:solidFill>
              </a:defRPr>
            </a:pPr>
            <a:r>
              <a:t>record → full WFDB record</a:t>
            </a:r>
          </a:p>
          <a:p>
            <a:pPr>
              <a:spcBef>
                <a:spcPts val="1200"/>
              </a:spcBef>
              <a:defRPr sz="1600">
                <a:solidFill>
                  <a:srgbClr val="232B34"/>
                </a:solidFill>
              </a:defRPr>
            </a:pPr>
            <a:r>
              <a:t>ecg → first ECG channel</a:t>
            </a:r>
          </a:p>
          <a:p>
            <a:pPr>
              <a:spcBef>
                <a:spcPts val="1200"/>
              </a:spcBef>
              <a:defRPr sz="1600">
                <a:solidFill>
                  <a:srgbClr val="232B34"/>
                </a:solidFill>
              </a:defRPr>
            </a:pPr>
            <a:r>
              <a:t>fs → sampling frequency</a:t>
            </a:r>
          </a:p>
          <a:p>
            <a:pPr>
              <a:spcBef>
                <a:spcPts val="1200"/>
              </a:spcBef>
              <a:defRPr sz="1600">
                <a:solidFill>
                  <a:srgbClr val="232B34"/>
                </a:solidFill>
              </a:defRPr>
            </a:pPr>
            <a:r>
              <a:t>annotation → apnea labels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4. Signal Inspection &amp; Annotations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Understand the raw ECG before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The notebook plots the first 10 seconds of ECG against time.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Apnea annotations are loaded with wfdb.rdann(..., 'apn').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The code prints annotation sample positions, corresponding times, and symbols.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These annotations provide event information associated with the ECG record.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1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7607" y="1581912"/>
            <a:ext cx="503834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annotation = wfdb.rdann(</a:t>
            </a:r>
            <a:br/>
            <a:r>
              <a:t>    "../data/data/raw/apnea-ecg/a01", "apn"</a:t>
            </a:r>
            <a:br/>
            <a:r>
              <a:t>)</a:t>
            </a:r>
            <a:br/>
            <a:br/>
            <a:r>
              <a:t>print(annotation.sample[:20])</a:t>
            </a:r>
            <a:br/>
            <a:r>
              <a:t>print(annotation.symbol[:20])</a:t>
            </a:r>
            <a:br/>
            <a:br/>
            <a:r>
              <a:t># ECG visualization</a:t>
            </a:r>
            <a:br/>
            <a:r>
              <a:t>plt.plot(np.arange(samples) / fs, ecg[:samples])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5. Preprocessing: Centering &amp; Baseline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Reduce slow signal drift before peak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874519" cy="1234440"/>
          </a:xfrm>
          <a:prstGeom prst="round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496312"/>
            <a:ext cx="16550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Raw ECG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ecg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2331720"/>
            <a:ext cx="1874519" cy="1234440"/>
          </a:xfrm>
          <a:prstGeom prst="roundRect">
            <a:avLst/>
          </a:prstGeom>
          <a:solidFill>
            <a:srgbClr val="3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496312"/>
            <a:ext cx="16550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Centering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subtract mean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1874519" cy="1234440"/>
          </a:xfrm>
          <a:prstGeom prst="round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2496312"/>
            <a:ext cx="16550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Baseline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moving average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38160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2331720"/>
            <a:ext cx="1874519" cy="1234440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3688" y="2496312"/>
            <a:ext cx="16550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Detrended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ecg_detrended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232B34"/>
                </a:solidFill>
              </a:defRPr>
            </a:pPr>
            <a:r>
              <a:t>First, the DC offset is removed: ecg_centered = ecg − mean(ecg).</a:t>
            </a:r>
          </a:p>
          <a:p>
            <a:pPr>
              <a:spcAft>
                <a:spcPts val="1200"/>
              </a:spcAft>
              <a:defRPr sz="1600" b="0">
                <a:solidFill>
                  <a:srgbClr val="232B34"/>
                </a:solidFill>
              </a:defRPr>
            </a:pPr>
            <a:r>
              <a:t>A moving-average window of 0.8 seconds estimates the baseline.</a:t>
            </a:r>
          </a:p>
          <a:p>
            <a:pPr>
              <a:spcAft>
                <a:spcPts val="1200"/>
              </a:spcAft>
              <a:defRPr sz="1600" b="0">
                <a:solidFill>
                  <a:srgbClr val="232B34"/>
                </a:solidFill>
              </a:defRPr>
            </a:pPr>
            <a:r>
              <a:t>The estimated baseline is subtracted from the centered ECG.</a:t>
            </a:r>
          </a:p>
          <a:p>
            <a:pPr>
              <a:spcAft>
                <a:spcPts val="1200"/>
              </a:spcAft>
              <a:defRPr sz="1600" b="0">
                <a:solidFill>
                  <a:srgbClr val="232B34"/>
                </a:solidFill>
              </a:defRPr>
            </a:pPr>
            <a:r>
              <a:t>The notebook compares the original centered signal with the baseline-removed signal.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6. Low-Pass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Smooth the detrended ECG before detecting R-peaks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492240" cy="3474720"/>
          </a:xfrm>
          <a:prstGeom prst="roundRect">
            <a:avLst/>
          </a:prstGeom>
          <a:solidFill>
            <a:srgbClr val="1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6089903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lp_window_seconds = 0.08</a:t>
            </a:r>
            <a:br/>
            <a:r>
              <a:t>lp_window = int(lp_window_seconds * fs)</a:t>
            </a:r>
            <a:br/>
            <a:br/>
            <a:r>
              <a:t>ecg_filtered = np.convolve(</a:t>
            </a:r>
            <a:br/>
            <a:r>
              <a:t>    ecg_detrended,</a:t>
            </a:r>
            <a:br/>
            <a:r>
              <a:t>    np.ones(lp_window) / lp_window,</a:t>
            </a:r>
            <a:br/>
            <a:r>
              <a:t>    mode="same"</a:t>
            </a:r>
            <a:br/>
            <a: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508760"/>
            <a:ext cx="365760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310896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23D"/>
                </a:solidFill>
              </a:defRPr>
            </a:pPr>
            <a:r>
              <a:t>Purpose</a:t>
            </a:r>
          </a:p>
          <a:p>
            <a:pPr>
              <a:spcBef>
                <a:spcPts val="1100"/>
              </a:spcBef>
              <a:defRPr sz="1500">
                <a:solidFill>
                  <a:srgbClr val="232B34"/>
                </a:solidFill>
              </a:defRPr>
            </a:pPr>
            <a:r>
              <a:t>Smooth high-frequency fluctuations</a:t>
            </a:r>
          </a:p>
          <a:p>
            <a:pPr>
              <a:spcBef>
                <a:spcPts val="1100"/>
              </a:spcBef>
              <a:defRPr sz="1500">
                <a:solidFill>
                  <a:srgbClr val="232B34"/>
                </a:solidFill>
              </a:defRPr>
            </a:pPr>
            <a:r>
              <a:t>Retain the main ECG waveform shape</a:t>
            </a:r>
          </a:p>
          <a:p>
            <a:pPr>
              <a:spcBef>
                <a:spcPts val="1100"/>
              </a:spcBef>
              <a:defRPr sz="1500">
                <a:solidFill>
                  <a:srgbClr val="232B34"/>
                </a:solidFill>
              </a:defRPr>
            </a:pPr>
            <a:r>
              <a:t>Create a cleaner signal for peak detection</a:t>
            </a:r>
          </a:p>
          <a:p>
            <a:pPr>
              <a:spcBef>
                <a:spcPts val="1100"/>
              </a:spcBef>
              <a:defRPr sz="1500">
                <a:solidFill>
                  <a:srgbClr val="232B34"/>
                </a:solidFill>
              </a:defRPr>
            </a:pPr>
            <a:r>
              <a:t>Compare detrended vs filtered ECG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7. R-Peak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Identify heartbeat locations using threshold + minimum distance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583680" cy="3840480"/>
          </a:xfrm>
          <a:prstGeom prst="roundRect">
            <a:avLst/>
          </a:prstGeom>
          <a:solidFill>
            <a:srgbClr val="1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6181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from scipy.signal import find_peaks</a:t>
            </a:r>
            <a:br/>
            <a:br/>
            <a:r>
              <a:t>min_distance = int(0.5 * fs)</a:t>
            </a:r>
            <a:br/>
            <a:r>
              <a:t>threshold = np.mean(signal) + 0.5 * np.std(signal)</a:t>
            </a:r>
            <a:br/>
            <a:br/>
            <a:r>
              <a:t>peaks, properties = find_peaks(</a:t>
            </a:r>
            <a:br/>
            <a:r>
              <a:t>    signal,</a:t>
            </a:r>
            <a:br/>
            <a:r>
              <a:t>    height=threshold,</a:t>
            </a:r>
            <a:br/>
            <a:r>
              <a:t>    distance=min_distance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32B34"/>
                </a:solidFill>
              </a:defRPr>
            </a:pPr>
            <a:r>
              <a:t>signal is the filtered ECG.</a:t>
            </a:r>
          </a:p>
          <a:p>
            <a:pPr>
              <a:spcAft>
                <a:spcPts val="1200"/>
              </a:spcAft>
              <a:defRPr sz="1500" b="0">
                <a:solidFill>
                  <a:srgbClr val="232B34"/>
                </a:solidFill>
              </a:defRPr>
            </a:pPr>
            <a:r>
              <a:t>Minimum peak distance = 0.5 seconds, limiting detections to roughly 120 beats/min or less.</a:t>
            </a:r>
          </a:p>
          <a:p>
            <a:pPr>
              <a:spcAft>
                <a:spcPts val="1200"/>
              </a:spcAft>
              <a:defRPr sz="1500" b="0">
                <a:solidFill>
                  <a:srgbClr val="232B34"/>
                </a:solidFill>
              </a:defRPr>
            </a:pPr>
            <a:r>
              <a:t>Threshold = mean(signal) + 0.5 × standard deviation.</a:t>
            </a:r>
          </a:p>
          <a:p>
            <a:pPr>
              <a:spcAft>
                <a:spcPts val="1200"/>
              </a:spcAft>
              <a:defRPr sz="1500" b="0">
                <a:solidFill>
                  <a:srgbClr val="232B34"/>
                </a:solidFill>
              </a:defRPr>
            </a:pPr>
            <a:r>
              <a:t>find_peaks returns the detected peak sample indices.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8. RR Intervals &amp; Heart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Convert R-peak timing into cardiac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492240" cy="3931920"/>
          </a:xfrm>
          <a:prstGeom prst="roundRect">
            <a:avLst/>
          </a:prstGeom>
          <a:solidFill>
            <a:srgbClr val="1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6089903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# Time between consecutive R-peaks</a:t>
            </a:r>
            <a:br/>
            <a:r>
              <a:t>rr_intervals = np.diff(peaks) / fs</a:t>
            </a:r>
            <a:br/>
            <a:br/>
            <a:r>
              <a:t># Instantaneous heart rate</a:t>
            </a:r>
            <a:br/>
            <a:r>
              <a:t>heart_rate = 60 / rr_intervals</a:t>
            </a:r>
            <a:br/>
            <a:br/>
            <a:r>
              <a:t># Time associated with each RR interval</a:t>
            </a:r>
            <a:br/>
            <a:r>
              <a:t>rr_time = peaks[1:] / fs</a:t>
            </a:r>
            <a:br/>
            <a:br/>
            <a:r>
              <a:t>plt.plot(rr_time, heart_rate)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00200"/>
            <a:ext cx="35661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09928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23D"/>
                </a:solidFill>
              </a:defRPr>
            </a:pPr>
            <a:r>
              <a:t>RR interval</a:t>
            </a:r>
          </a:p>
          <a:p>
            <a:pPr>
              <a:defRPr sz="1400">
                <a:solidFill>
                  <a:srgbClr val="232B34"/>
                </a:solidFill>
              </a:defRPr>
            </a:pPr>
            <a:r>
              <a:t>Δt = (peakᵢ₊₁ − peakᵢ) / 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743200"/>
            <a:ext cx="35661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852928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23D"/>
                </a:solidFill>
              </a:defRPr>
            </a:pPr>
            <a:r>
              <a:t>Heart rate</a:t>
            </a:r>
          </a:p>
          <a:p>
            <a:pPr>
              <a:defRPr sz="1400">
                <a:solidFill>
                  <a:srgbClr val="232B34"/>
                </a:solidFill>
              </a:defRPr>
            </a:pPr>
            <a:r>
              <a:t>HR = 60 / 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886200"/>
            <a:ext cx="35661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995928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23D"/>
                </a:solidFill>
              </a:defRPr>
            </a:pPr>
            <a:r>
              <a:t>Output</a:t>
            </a:r>
          </a:p>
          <a:p>
            <a:pPr>
              <a:defRPr sz="1400">
                <a:solidFill>
                  <a:srgbClr val="232B34"/>
                </a:solidFill>
              </a:defRPr>
            </a:pPr>
            <a:r>
              <a:t>Heart rate in BPM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9. Complete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What happens from the file to the final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261872" cy="1325880"/>
          </a:xfrm>
          <a:prstGeom prst="round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ECG record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WFDB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64792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47672" y="2148840"/>
            <a:ext cx="1261872" cy="1325880"/>
          </a:xfrm>
          <a:prstGeom prst="roundRect">
            <a:avLst/>
          </a:prstGeom>
          <a:solidFill>
            <a:srgbClr val="3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79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Extract channel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p_signal[:,0]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9544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2424" y="2148840"/>
            <a:ext cx="1261872" cy="1325880"/>
          </a:xfrm>
          <a:prstGeom prst="round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Center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remove mean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54296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37176" y="2148840"/>
            <a:ext cx="1261872" cy="1325880"/>
          </a:xfrm>
          <a:prstGeom prst="roundRect">
            <a:avLst/>
          </a:prstGeom>
          <a:solidFill>
            <a:srgbClr val="3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Detrend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0.8 s baseline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99048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8" y="2148840"/>
            <a:ext cx="1261872" cy="1325880"/>
          </a:xfrm>
          <a:prstGeom prst="round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Filter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0.08 s moving avg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43800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26679" y="2148840"/>
            <a:ext cx="1261872" cy="1325880"/>
          </a:xfrm>
          <a:prstGeom prst="roundRect">
            <a:avLst/>
          </a:prstGeom>
          <a:solidFill>
            <a:srgbClr val="3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R-peaks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find_peaks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88551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71432" y="2148840"/>
            <a:ext cx="1261872" cy="1325880"/>
          </a:xfrm>
          <a:prstGeom prst="round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RR intervals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peak differences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433304" y="2688336"/>
            <a:ext cx="5943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16184" y="2148840"/>
            <a:ext cx="1261872" cy="1325880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0192" y="2331720"/>
            <a:ext cx="11338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Heart rate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60 / 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Final result of the notebook: a time series of instantaneous heart rate derived from detected ECG R-peaks.</a:t>
            </a:r>
          </a:p>
          <a:p>
            <a:pPr>
              <a:spcAft>
                <a:spcPts val="1200"/>
              </a:spcAft>
              <a:defRPr sz="1800" b="0">
                <a:solidFill>
                  <a:srgbClr val="232B34"/>
                </a:solidFill>
              </a:defRPr>
            </a:pPr>
            <a:r>
              <a:t>The heart-rate series can serve as an input feature for later sleep-apnea analysis.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10. Current Scope &amp;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Important distinction between preprocessing and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Implemented in this notebook: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ECG loading and visualization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Apnea annotation reading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Signal centering, baseline removal, and smoothing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R-peak detection and heart-rate calculation</a:t>
            </a: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232B34"/>
                </a:solidFill>
              </a:defRPr>
            </a:pPr>
            <a:r>
              <a:t>Not implemented in the supplied code: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Feature extraction for a classifier beyond RR/heart rate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CNN architecture or training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Train/test evaluation of an apnea classifier</a:t>
            </a:r>
          </a:p>
          <a:p>
            <a:pPr lvl="1"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Accuracy, precision, recall, F1, confusion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ECG Signal Processing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rPr>
                <a:solidFill>
                  <a:srgbClr val="CDDEEE"/>
                </a:solidFill>
              </a:rPr>
              <a:t>Raw ECG is transformed into a cleaner signal through simple preprocessing.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rPr>
                <a:solidFill>
                  <a:srgbClr val="CDDEEE"/>
                </a:solidFill>
              </a:rPr>
              <a:t>R-peaks provide heartbeat timing, from which RR intervals and instantaneous heart rate are calculated.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rPr>
                <a:solidFill>
                  <a:srgbClr val="CDDEEE"/>
                </a:solidFill>
              </a:rPr>
              <a:t>The resulting features form a useful preprocessing foundation for a future sleep-apnea detection model.</a:t>
            </a:r>
          </a:p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</a:defRPr>
            </a:pPr>
            <a:r>
              <a:rPr>
                <a:solidFill>
                  <a:srgbClr val="CDDEEE"/>
                </a:solidFill>
              </a:rPr>
              <a:t>Next step: segment ECG/features and train/evaluate a supervised classifier or CNN using the available apnea annotations.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>
                <a:solidFill>
                  <a:srgbClr val="CDDEEE"/>
                </a:solidFill>
              </a:rPr>
              <a:t>ECG Signal Processing •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