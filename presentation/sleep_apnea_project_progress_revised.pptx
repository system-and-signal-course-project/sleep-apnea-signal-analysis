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52360" y="1897380"/>
            <a:ext cx="64008" cy="228600"/>
          </a:xfrm>
          <a:prstGeom prst="rect">
            <a:avLst/>
          </a:prstGeom>
          <a:solidFill>
            <a:srgbClr val="70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35824" y="1805940"/>
            <a:ext cx="64008" cy="411480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19288" y="1911096"/>
            <a:ext cx="64008" cy="201168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02752" y="1645920"/>
            <a:ext cx="64008" cy="731520"/>
          </a:xfrm>
          <a:prstGeom prst="rect">
            <a:avLst/>
          </a:prstGeom>
          <a:solidFill>
            <a:srgbClr val="70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86216" y="1874520"/>
            <a:ext cx="64008" cy="274320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1805940"/>
            <a:ext cx="64008" cy="411480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53144" y="1929384"/>
            <a:ext cx="64008" cy="164592"/>
          </a:xfrm>
          <a:prstGeom prst="rect">
            <a:avLst/>
          </a:prstGeom>
          <a:solidFill>
            <a:srgbClr val="70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36608" y="1714500"/>
            <a:ext cx="64008" cy="594360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20072" y="1883664"/>
            <a:ext cx="64008" cy="256032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03536" y="1819656"/>
            <a:ext cx="64008" cy="384048"/>
          </a:xfrm>
          <a:prstGeom prst="rect">
            <a:avLst/>
          </a:prstGeom>
          <a:solidFill>
            <a:srgbClr val="70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87000" y="1911096"/>
            <a:ext cx="64008" cy="201168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70464" y="1668780"/>
            <a:ext cx="64008" cy="685800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53928" y="1874520"/>
            <a:ext cx="64008" cy="274320"/>
          </a:xfrm>
          <a:prstGeom prst="rect">
            <a:avLst/>
          </a:prstGeom>
          <a:solidFill>
            <a:srgbClr val="70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85800"/>
            <a:ext cx="6492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70D5D0"/>
                </a:solidFill>
                <a:latin typeface="Aptos"/>
              </a:defRPr>
            </a:pPr>
            <a:r>
              <a:t>SIGNALS &amp; SYSTEMS  |  PROJECT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417320"/>
            <a:ext cx="649224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8FAFC"/>
                </a:solidFill>
                <a:latin typeface="Aptos"/>
              </a:defRPr>
            </a:pPr>
            <a:r>
              <a:t>ECG-Based Sleep Apnea</a:t>
            </a:r>
          </a:p>
          <a:p>
            <a:pPr>
              <a:spcAft>
                <a:spcPts val="700"/>
              </a:spcAft>
              <a:defRPr sz="3100" b="1">
                <a:solidFill>
                  <a:srgbClr val="F8FAFC"/>
                </a:solidFill>
                <a:latin typeface="Aptos"/>
              </a:defRPr>
            </a:pPr>
            <a:r>
              <a:t>Detection Using a CNN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46120"/>
            <a:ext cx="60350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CDDAE7"/>
                </a:solidFill>
                <a:latin typeface="Aptos"/>
              </a:defRPr>
            </a:pPr>
            <a:r>
              <a:t>Progress achieved through the current Jupyter notebook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54880"/>
            <a:ext cx="1783080" cy="384048"/>
          </a:xfrm>
          <a:prstGeom prst="roundRect">
            <a:avLst/>
          </a:prstGeom>
          <a:solidFill>
            <a:srgbClr val="20344E"/>
          </a:solidFill>
          <a:ln>
            <a:solidFill>
              <a:srgbClr val="3D5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" y="4837176"/>
            <a:ext cx="1508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800" b="1">
                <a:solidFill>
                  <a:srgbClr val="70D5D0"/>
                </a:solidFill>
                <a:latin typeface="Aptos"/>
              </a:defRPr>
            </a:pPr>
            <a:r>
              <a:t>SIGNAL 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754880"/>
            <a:ext cx="1600200" cy="384048"/>
          </a:xfrm>
          <a:prstGeom prst="roundRect">
            <a:avLst/>
          </a:prstGeom>
          <a:solidFill>
            <a:srgbClr val="20344E"/>
          </a:solidFill>
          <a:ln>
            <a:solidFill>
              <a:srgbClr val="3D5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98064" y="4837176"/>
            <a:ext cx="1508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800" b="1">
                <a:solidFill>
                  <a:srgbClr val="70D5D0"/>
                </a:solidFill>
                <a:latin typeface="Aptos"/>
              </a:defRPr>
            </a:pPr>
            <a:r>
              <a:t>WINDOWING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754880"/>
            <a:ext cx="1600200" cy="384048"/>
          </a:xfrm>
          <a:prstGeom prst="roundRect">
            <a:avLst/>
          </a:prstGeom>
          <a:solidFill>
            <a:srgbClr val="20344E"/>
          </a:solidFill>
          <a:ln>
            <a:solidFill>
              <a:srgbClr val="3D5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2544" y="4837176"/>
            <a:ext cx="1508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800" b="1">
                <a:solidFill>
                  <a:srgbClr val="70D5D0"/>
                </a:solidFill>
                <a:latin typeface="Aptos"/>
              </a:defRPr>
            </a:pPr>
            <a:r>
              <a:t>1D CNN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4754880"/>
            <a:ext cx="1600200" cy="384048"/>
          </a:xfrm>
          <a:prstGeom prst="roundRect">
            <a:avLst/>
          </a:prstGeom>
          <a:solidFill>
            <a:srgbClr val="20344E"/>
          </a:solidFill>
          <a:ln>
            <a:solidFill>
              <a:srgbClr val="3D5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41264" y="4837176"/>
            <a:ext cx="1508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800" b="1">
                <a:solidFill>
                  <a:srgbClr val="70D5D0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8932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BECBDA"/>
                </a:solidFill>
                <a:latin typeface="Aptos"/>
              </a:defRPr>
            </a:pPr>
            <a:r>
              <a:t>Current scope: ECG pipeline implemented; SpO₂ pipeline remains future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ECBDA"/>
                </a:solidFill>
                <a:latin typeface="Aptos"/>
              </a:defRPr>
            </a:pPr>
            <a:r>
              <a:t>SYSTEMS &amp; SIGNALS  •  PROJECT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ECBD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A6A0"/>
                </a:solidFill>
                <a:latin typeface="Aptos"/>
              </a:defRPr>
            </a:pPr>
            <a:r>
              <a:t>01  /  PROJECT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1E37"/>
                </a:solidFill>
                <a:latin typeface="Aptos"/>
              </a:defRPr>
            </a:pPr>
            <a:r>
              <a:t>Project objective &amp; current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777240" cy="50292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2120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21E37"/>
                </a:solidFill>
                <a:latin typeface="Aptos"/>
              </a:defRPr>
            </a:pPr>
            <a:r>
              <a:t>What we are 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12064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42F41"/>
                </a:solidFill>
                <a:latin typeface="Aptos"/>
              </a:defRPr>
            </a:pPr>
            <a:r>
              <a:t>A prototype that classifies ECG windows as Normal or Apnea using a one-dimensional convolutional neural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5212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A6A0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96512"/>
            <a:ext cx="502920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F6D81"/>
                </a:solidFill>
                <a:latin typeface="Aptos"/>
              </a:defRPr>
            </a:pPr>
            <a:r>
              <a:t>Sleep-apnea events can affect oxygen levels and cardiovascular activity. ECG provides a non-invasive signal for exploring automated screening.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233172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73152" cy="1417320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56232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1E37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58568"/>
            <a:ext cx="1947672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ECG loading, annotations, preprocessing, windows, patient-level split, CNN training and test evaluation.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91640"/>
            <a:ext cx="233172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691640"/>
            <a:ext cx="73152" cy="1417320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5128" y="1856232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1E37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2258568"/>
            <a:ext cx="1947672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Refinement of threshold selection, evaluation and reproducibility.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29000"/>
            <a:ext cx="233172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429000"/>
            <a:ext cx="73152" cy="1417320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593592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1E37"/>
                </a:solidFill>
                <a:latin typeface="Aptos"/>
              </a:defRPr>
            </a:pPr>
            <a:r>
              <a:t>Not yet 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95928"/>
            <a:ext cx="1947672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SpO₂ branch, ECG + SpO₂ fusion, real-time streaming.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F6D81"/>
                </a:solidFill>
                <a:latin typeface="Aptos"/>
              </a:defRPr>
            </a:pPr>
            <a:r>
              <a:t>SYSTEMS &amp; SIGNALS  •  PROJECT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81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A6A0"/>
                </a:solidFill>
                <a:latin typeface="Aptos"/>
              </a:defRPr>
            </a:pPr>
            <a:r>
              <a:t>02  / 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1E37"/>
                </a:solidFill>
                <a:latin typeface="Aptos"/>
              </a:defRPr>
            </a:pPr>
            <a:r>
              <a:t>Pipeline implemented in the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777240" cy="50292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46120" cy="1417320"/>
          </a:xfrm>
          <a:prstGeom prst="roundRect">
            <a:avLst/>
          </a:prstGeom>
          <a:solidFill>
            <a:srgbClr val="E7F2F5"/>
          </a:solidFill>
          <a:ln>
            <a:solidFill>
              <a:srgbClr val="D1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65376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A6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47088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1E37"/>
                </a:solidFill>
                <a:latin typeface="Aptos"/>
              </a:defRPr>
            </a:pPr>
            <a:r>
              <a:t>Load ECG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28346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WFDB records + apnea annotations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226771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9A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737360"/>
            <a:ext cx="3246120" cy="1417320"/>
          </a:xfrm>
          <a:prstGeom prst="roundRect">
            <a:avLst/>
          </a:prstGeom>
          <a:solidFill>
            <a:srgbClr val="E7F2F5"/>
          </a:solidFill>
          <a:ln>
            <a:solidFill>
              <a:srgbClr val="D1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865376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A6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847088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1E37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267712"/>
            <a:ext cx="28346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0.5–40 Hz Butterworth band-pass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26771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9A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737360"/>
            <a:ext cx="3246120" cy="1417320"/>
          </a:xfrm>
          <a:prstGeom prst="roundRect">
            <a:avLst/>
          </a:prstGeom>
          <a:solidFill>
            <a:srgbClr val="E7F2F5"/>
          </a:solidFill>
          <a:ln>
            <a:solidFill>
              <a:srgbClr val="D1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865376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A6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847088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1E37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67712"/>
            <a:ext cx="28346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60 s windows = 6,000 samples at 100 Hz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94760"/>
            <a:ext cx="3246120" cy="1417320"/>
          </a:xfrm>
          <a:prstGeom prst="roundRect">
            <a:avLst/>
          </a:prstGeom>
          <a:solidFill>
            <a:srgbClr val="E7F2F5"/>
          </a:solidFill>
          <a:ln>
            <a:solidFill>
              <a:srgbClr val="D1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922776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A6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04488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1E37"/>
                </a:solidFill>
                <a:latin typeface="Aptos"/>
              </a:defRPr>
            </a:pPr>
            <a:r>
              <a:t>Label +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25112"/>
            <a:ext cx="28346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Normal/Apnea labels; patient-level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648" y="432511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9A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794760"/>
            <a:ext cx="3246120" cy="1417320"/>
          </a:xfrm>
          <a:prstGeom prst="roundRect">
            <a:avLst/>
          </a:prstGeom>
          <a:solidFill>
            <a:srgbClr val="E7F2F5"/>
          </a:solidFill>
          <a:ln>
            <a:solidFill>
              <a:srgbClr val="D1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3922776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A6A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904488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1E37"/>
                </a:solidFill>
                <a:latin typeface="Aptos"/>
              </a:defRPr>
            </a:pPr>
            <a:r>
              <a:t>Train CNN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325112"/>
            <a:ext cx="28346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1D convolutions + pooling + dense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36408" y="4325112"/>
            <a:ext cx="3840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9A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3794760"/>
            <a:ext cx="3246120" cy="1417320"/>
          </a:xfrm>
          <a:prstGeom prst="roundRect">
            <a:avLst/>
          </a:prstGeom>
          <a:solidFill>
            <a:srgbClr val="E7F2F5"/>
          </a:solidFill>
          <a:ln>
            <a:solidFill>
              <a:srgbClr val="D1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85632" y="3922776"/>
            <a:ext cx="502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A6A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904488"/>
            <a:ext cx="2331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1E37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325112"/>
            <a:ext cx="28346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Accuracy, ROC-AUC, confusion matrix, class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F6D81"/>
                </a:solidFill>
                <a:latin typeface="Aptos"/>
              </a:defRPr>
            </a:pPr>
            <a:r>
              <a:t>SYSTEMS &amp; SIGNALS  •  PROJECT PROGRESS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81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A6A0"/>
                </a:solidFill>
                <a:latin typeface="Aptos"/>
              </a:defRPr>
            </a:pPr>
            <a:r>
              <a:t>03  / 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1E37"/>
                </a:solidFill>
                <a:latin typeface="Aptos"/>
              </a:defRPr>
            </a:pPr>
            <a:r>
              <a:t>Dataset preparation &amp; segmentation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777240" cy="50292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461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1325880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10512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1E37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12848"/>
            <a:ext cx="286207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PhysioNet Apnea-ECG database; ECG recordings and minute-based apnea annotations.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461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73152" cy="1325880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810512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1E37"/>
                </a:solidFill>
                <a:latin typeface="Aptos"/>
              </a:defRPr>
            </a:pPr>
            <a:r>
              <a:t>Signal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212848"/>
            <a:ext cx="286207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Sampling rate: 100 Hz. Each 60-second window contains 6,000 samples.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461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73152" cy="1325880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810512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1E37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212848"/>
            <a:ext cx="286207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Fourth-order Butterworth band-pass filter from 0.5 to 40 Hz; windows normalized.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24688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21E37"/>
                </a:solidFill>
                <a:latin typeface="Aptos"/>
              </a:defRPr>
            </a:pPr>
            <a:r>
              <a:t>7,038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windows assembled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703320"/>
            <a:ext cx="24688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21E3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34340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patients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03320"/>
            <a:ext cx="24688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21E37"/>
                </a:solidFill>
                <a:latin typeface="Aptos"/>
              </a:defRPr>
            </a:pPr>
            <a:r>
              <a:t>4,391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4340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Apnea 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703320"/>
            <a:ext cx="24688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121E37"/>
                </a:solidFill>
                <a:latin typeface="Aptos"/>
              </a:defRPr>
            </a:pPr>
            <a:r>
              <a:t>2,647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434340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F6D81"/>
                </a:solidFill>
                <a:latin typeface="Aptos"/>
              </a:defRPr>
            </a:pPr>
            <a:r>
              <a:t>Normal 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74920"/>
            <a:ext cx="106070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42F41"/>
                </a:solidFill>
                <a:latin typeface="Aptos"/>
              </a:defRPr>
            </a:pPr>
            <a:r>
              <a:t>Data note: recording a02 was skipped because WFDB could not load its samples correctly. The remaining 14 recordings were used in this notebook run.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F6D81"/>
                </a:solidFill>
                <a:latin typeface="Aptos"/>
              </a:defRPr>
            </a:pPr>
            <a:r>
              <a:t>SYSTEMS &amp; SIGNALS  •  PROJECT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81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A6A0"/>
                </a:solidFill>
                <a:latin typeface="Aptos"/>
              </a:defRPr>
            </a:pPr>
            <a:r>
              <a:t>04  /  SIGNALS &amp;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1E37"/>
                </a:solidFill>
                <a:latin typeface="Aptos"/>
              </a:defRPr>
            </a:pPr>
            <a:r>
              <a:t>Signal-processing work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777240" cy="50292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937760" cy="42062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42F41"/>
                </a:solidFill>
                <a:latin typeface="Aptos"/>
              </a:defRPr>
            </a:pPr>
            <a:r>
              <a:t>•  Loaded raw ECG and inspected sampling frequency, duration and annotations.</a:t>
            </a:r>
          </a:p>
          <a:p>
            <a:pPr>
              <a:spcAft>
                <a:spcPts val="1200"/>
              </a:spcAft>
              <a:defRPr sz="1500">
                <a:solidFill>
                  <a:srgbClr val="242F41"/>
                </a:solidFill>
                <a:latin typeface="Aptos"/>
              </a:defRPr>
            </a:pPr>
            <a:r>
              <a:t>•  Removed baseline drift using a moving-average estimate during exploratory analysis.</a:t>
            </a:r>
          </a:p>
          <a:p>
            <a:pPr>
              <a:spcAft>
                <a:spcPts val="1200"/>
              </a:spcAft>
              <a:defRPr sz="1500">
                <a:solidFill>
                  <a:srgbClr val="242F41"/>
                </a:solidFill>
                <a:latin typeface="Aptos"/>
              </a:defRPr>
            </a:pPr>
            <a:r>
              <a:t>•  Applied low-pass smoothing in the initial exploration, then implemented a Butterworth band-pass filter for the main dataset pipeline.</a:t>
            </a:r>
          </a:p>
          <a:p>
            <a:pPr>
              <a:spcAft>
                <a:spcPts val="1200"/>
              </a:spcAft>
              <a:defRPr sz="1500">
                <a:solidFill>
                  <a:srgbClr val="242F41"/>
                </a:solidFill>
                <a:latin typeface="Aptos"/>
              </a:defRPr>
            </a:pPr>
            <a:r>
              <a:t>•  Detected R-peaks and derived RR intervals and instantaneous heart rate for exploratory analysis.</a:t>
            </a:r>
          </a:p>
          <a:p>
            <a:pPr>
              <a:spcAft>
                <a:spcPts val="1200"/>
              </a:spcAft>
              <a:defRPr sz="1500">
                <a:solidFill>
                  <a:srgbClr val="242F41"/>
                </a:solidFill>
                <a:latin typeface="Aptos"/>
              </a:defRPr>
            </a:pPr>
            <a:r>
              <a:t>•  Mapped apnea annotations to minute-level windows and checked label consistency.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1E37"/>
                </a:solidFill>
                <a:latin typeface="Aptos"/>
              </a:defRPr>
            </a:pPr>
            <a:r>
              <a:t>From waveform to usable windows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423160"/>
            <a:ext cx="3566160" cy="502920"/>
          </a:xfrm>
          <a:prstGeom prst="round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532888"/>
            <a:ext cx="3291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21E37"/>
                </a:solidFill>
                <a:latin typeface="Aptos"/>
              </a:defRPr>
            </a:pPr>
            <a:r>
              <a:t>Raw ECG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953512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9A6A0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227832"/>
            <a:ext cx="3566160" cy="502920"/>
          </a:xfrm>
          <a:prstGeom prst="roundRect">
            <a:avLst/>
          </a:prstGeom>
          <a:solidFill>
            <a:srgbClr val="70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3337560"/>
            <a:ext cx="3291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21E37"/>
                </a:solidFill>
                <a:latin typeface="Aptos"/>
              </a:defRPr>
            </a:pPr>
            <a:r>
              <a:t>Filtered ECG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758183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9A6A0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032504"/>
            <a:ext cx="3566160" cy="502920"/>
          </a:xfrm>
          <a:prstGeom prst="roundRect">
            <a:avLst/>
          </a:prstGeom>
          <a:solidFill>
            <a:srgbClr val="F2A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4142232"/>
            <a:ext cx="3291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21E37"/>
                </a:solidFill>
                <a:latin typeface="Aptos"/>
              </a:defRPr>
            </a:pPr>
            <a:r>
              <a:t>60 s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562856"/>
            <a:ext cx="548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9A6A0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837176"/>
            <a:ext cx="3566160" cy="502920"/>
          </a:xfrm>
          <a:prstGeom prst="roundRect">
            <a:avLst/>
          </a:prstGeom>
          <a:solidFill>
            <a:srgbClr val="3D9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946904"/>
            <a:ext cx="3291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21E37"/>
                </a:solidFill>
                <a:latin typeface="Aptos"/>
              </a:defRPr>
            </a:pPr>
            <a:r>
              <a:t>Normalized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71500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D81"/>
                </a:solidFill>
                <a:latin typeface="Aptos"/>
              </a:defRPr>
            </a:pPr>
            <a:r>
              <a:t>Exploratory RR/heart-rate analysis is separate from the final raw-window CNN input.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F6D81"/>
                </a:solidFill>
                <a:latin typeface="Aptos"/>
              </a:defRPr>
            </a:pPr>
            <a:r>
              <a:t>SYSTEMS &amp; SIGNALS  •  PROJECT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81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A6A0"/>
                </a:solidFill>
                <a:latin typeface="Aptos"/>
              </a:defRPr>
            </a:pPr>
            <a:r>
              <a:t>05  /  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1E37"/>
                </a:solidFill>
                <a:latin typeface="Aptos"/>
              </a:defRPr>
            </a:pPr>
            <a:r>
              <a:t>Patient-level split to reduce leakage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777240" cy="50292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1E37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810512"/>
            <a:ext cx="5852160" cy="384048"/>
          </a:xfrm>
          <a:prstGeom prst="round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856231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2F41"/>
                </a:solidFill>
                <a:latin typeface="Aptos"/>
              </a:defRPr>
            </a:pPr>
            <a:r>
              <a:t>4,061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1E37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770632"/>
            <a:ext cx="2201945" cy="384048"/>
          </a:xfrm>
          <a:prstGeom prst="roundRect">
            <a:avLst/>
          </a:prstGeom>
          <a:solidFill>
            <a:srgbClr val="F2A3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6545" y="2816351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2F41"/>
                </a:solidFill>
                <a:latin typeface="Aptos"/>
              </a:defRPr>
            </a:pPr>
            <a:r>
              <a:t>1,528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1463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21E37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3730752"/>
            <a:ext cx="2088101" cy="384048"/>
          </a:xfrm>
          <a:prstGeom prst="roundRect">
            <a:avLst/>
          </a:prstGeom>
          <a:solidFill>
            <a:srgbClr val="12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2701" y="3776472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2F41"/>
                </a:solidFill>
                <a:latin typeface="Aptos"/>
              </a:defRPr>
            </a:pPr>
            <a:r>
              <a:t>1,449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8308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A6A0"/>
                </a:solidFill>
                <a:latin typeface="Aptos"/>
              </a:defRPr>
            </a:pPr>
            <a:r>
              <a:t>Patient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40280"/>
            <a:ext cx="30175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42F41"/>
                </a:solidFill>
                <a:latin typeface="Aptos"/>
              </a:defRPr>
            </a:pPr>
            <a:r>
              <a:t>Train: a04, a05, a06, a07, a09, a10, a12, a15</a:t>
            </a:r>
          </a:p>
          <a:p>
            <a:pPr>
              <a:spcAft>
                <a:spcPts val="700"/>
              </a:spcAft>
              <a:defRPr sz="1200" b="0">
                <a:solidFill>
                  <a:srgbClr val="242F4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242F41"/>
                </a:solidFill>
                <a:latin typeface="Aptos"/>
              </a:defRPr>
            </a:pPr>
            <a:r>
              <a:t>Validation: a03, a08, a14</a:t>
            </a:r>
          </a:p>
          <a:p>
            <a:pPr>
              <a:spcAft>
                <a:spcPts val="700"/>
              </a:spcAft>
              <a:defRPr sz="1200" b="0">
                <a:solidFill>
                  <a:srgbClr val="242F41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200" b="0">
                <a:solidFill>
                  <a:srgbClr val="242F41"/>
                </a:solidFill>
                <a:latin typeface="Aptos"/>
              </a:defRPr>
            </a:pPr>
            <a:r>
              <a:t>Test: a01, a11, a13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74920"/>
            <a:ext cx="10424160" cy="685800"/>
          </a:xfrm>
          <a:prstGeom prst="roundRect">
            <a:avLst/>
          </a:prstGeom>
          <a:solidFill>
            <a:srgbClr val="E7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57800"/>
            <a:ext cx="9966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21E37"/>
                </a:solidFill>
                <a:latin typeface="Aptos"/>
              </a:defRPr>
            </a:pPr>
            <a:r>
              <a:t>The notebook verifies that no patient appears in more than one split.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F6D81"/>
                </a:solidFill>
                <a:latin typeface="Aptos"/>
              </a:defRPr>
            </a:pPr>
            <a:r>
              <a:t>SYSTEMS &amp; SIGNALS  •  PROJECT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81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A6A0"/>
                </a:solidFill>
                <a:latin typeface="Aptos"/>
              </a:defRPr>
            </a:pPr>
            <a:r>
              <a:t>06  / 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1E37"/>
                </a:solidFill>
                <a:latin typeface="Aptos"/>
              </a:defRPr>
            </a:pPr>
            <a:r>
              <a:t>CNN baseline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777240" cy="50292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234440" cy="1325880"/>
          </a:xfrm>
          <a:prstGeom prst="roundRect">
            <a:avLst/>
          </a:prstGeom>
          <a:solidFill>
            <a:srgbClr val="19A6A0"/>
          </a:solidFill>
          <a:ln>
            <a:solidFill>
              <a:srgbClr val="D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2395728"/>
            <a:ext cx="1124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121E37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852928"/>
            <a:ext cx="11247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121E37"/>
                </a:solidFill>
                <a:latin typeface="Aptos"/>
              </a:defRPr>
            </a:pPr>
            <a:r>
              <a:t>6,000 ×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3663" y="2651760"/>
            <a:ext cx="21945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9A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0824" y="2194560"/>
            <a:ext cx="1691640" cy="1325880"/>
          </a:xfrm>
          <a:prstGeom prst="roundRect">
            <a:avLst/>
          </a:prstGeom>
          <a:solidFill>
            <a:srgbClr val="E7F2F5"/>
          </a:solidFill>
          <a:ln>
            <a:solidFill>
              <a:srgbClr val="D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5688" y="2395728"/>
            <a:ext cx="15819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121E37"/>
                </a:solidFill>
                <a:latin typeface="Aptos"/>
              </a:defRPr>
            </a:pPr>
            <a:r>
              <a:t>Conv1D + BN + 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2852928"/>
            <a:ext cx="15819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121E37"/>
                </a:solidFill>
                <a:latin typeface="Aptos"/>
              </a:defRPr>
            </a:pPr>
            <a:r>
              <a:t>32 filters, kernel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651760"/>
            <a:ext cx="21945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9A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58768" y="2194560"/>
            <a:ext cx="1691640" cy="1325880"/>
          </a:xfrm>
          <a:prstGeom prst="roundRect">
            <a:avLst/>
          </a:prstGeom>
          <a:solidFill>
            <a:srgbClr val="E7F2F5"/>
          </a:solidFill>
          <a:ln>
            <a:solidFill>
              <a:srgbClr val="D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3632" y="2395728"/>
            <a:ext cx="15819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121E37"/>
                </a:solidFill>
                <a:latin typeface="Aptos"/>
              </a:defRPr>
            </a:pPr>
            <a:r>
              <a:t>Conv1D + BN +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2" y="2852928"/>
            <a:ext cx="15819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121E37"/>
                </a:solidFill>
                <a:latin typeface="Aptos"/>
              </a:defRPr>
            </a:pPr>
            <a:r>
              <a:t>64 filters, kernel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2651760"/>
            <a:ext cx="21945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9A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96712" y="2194560"/>
            <a:ext cx="1417320" cy="1325880"/>
          </a:xfrm>
          <a:prstGeom prst="roundRect">
            <a:avLst/>
          </a:prstGeom>
          <a:solidFill>
            <a:srgbClr val="E7F2F5"/>
          </a:solidFill>
          <a:ln>
            <a:solidFill>
              <a:srgbClr val="D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51576" y="2395728"/>
            <a:ext cx="13075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121E37"/>
                </a:solidFill>
                <a:latin typeface="Aptos"/>
              </a:defRPr>
            </a:pPr>
            <a:r>
              <a:t>Conv1D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51576" y="2852928"/>
            <a:ext cx="130759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121E37"/>
                </a:solidFill>
                <a:latin typeface="Aptos"/>
              </a:defRPr>
            </a:pPr>
            <a:r>
              <a:t>64 filters, kernel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2651760"/>
            <a:ext cx="21945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9A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2194560"/>
            <a:ext cx="1600200" cy="1325880"/>
          </a:xfrm>
          <a:prstGeom prst="roundRect">
            <a:avLst/>
          </a:prstGeom>
          <a:solidFill>
            <a:srgbClr val="E7F2F5"/>
          </a:solidFill>
          <a:ln>
            <a:solidFill>
              <a:srgbClr val="D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395728"/>
            <a:ext cx="14904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121E37"/>
                </a:solidFill>
                <a:latin typeface="Aptos"/>
              </a:defRPr>
            </a:pPr>
            <a:r>
              <a:t>Global average pooling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852928"/>
            <a:ext cx="14904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121E37"/>
                </a:solidFill>
                <a:latin typeface="Aptos"/>
              </a:defRPr>
            </a:pPr>
            <a:r>
              <a:t>Temporal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651760"/>
            <a:ext cx="21945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9A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2194560"/>
            <a:ext cx="1600200" cy="1325880"/>
          </a:xfrm>
          <a:prstGeom prst="roundRect">
            <a:avLst/>
          </a:prstGeom>
          <a:solidFill>
            <a:srgbClr val="E7F2F5"/>
          </a:solidFill>
          <a:ln>
            <a:solidFill>
              <a:srgbClr val="D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1704" y="2395728"/>
            <a:ext cx="149047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121E37"/>
                </a:solidFill>
                <a:latin typeface="Aptos"/>
              </a:defRPr>
            </a:pPr>
            <a:r>
              <a:t>Dense + Dropout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704" y="2852928"/>
            <a:ext cx="149047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121E37"/>
                </a:solidFill>
                <a:latin typeface="Aptos"/>
              </a:defRPr>
            </a:pPr>
            <a:r>
              <a:t>32 units; dropout 0.2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16184" y="2651760"/>
            <a:ext cx="21945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9A6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53344" y="2194560"/>
            <a:ext cx="1417320" cy="1325880"/>
          </a:xfrm>
          <a:prstGeom prst="roundRect">
            <a:avLst/>
          </a:prstGeom>
          <a:solidFill>
            <a:srgbClr val="19A6A0"/>
          </a:solidFill>
          <a:ln>
            <a:solidFill>
              <a:srgbClr val="D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8208" y="2395728"/>
            <a:ext cx="13075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121E37"/>
                </a:solidFill>
                <a:latin typeface="Aptos"/>
              </a:defRPr>
            </a:pPr>
            <a:r>
              <a:t>Sigmoid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8" y="2852928"/>
            <a:ext cx="130759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121E37"/>
                </a:solidFill>
                <a:latin typeface="Aptos"/>
              </a:defRPr>
            </a:pPr>
            <a:r>
              <a:t>Apnea probability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16052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A6A0"/>
                </a:solidFill>
                <a:latin typeface="Aptos"/>
              </a:defRPr>
            </a:pPr>
            <a:r>
              <a:t>Training configuration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572000"/>
            <a:ext cx="4754880" cy="12344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242F41"/>
                </a:solidFill>
                <a:latin typeface="Aptos"/>
              </a:defRPr>
            </a:pPr>
            <a:r>
              <a:t>•  Adam optimizer (learning rate 0.0003)</a:t>
            </a:r>
          </a:p>
          <a:p>
            <a:pPr>
              <a:spcAft>
                <a:spcPts val="1200"/>
              </a:spcAft>
              <a:defRPr sz="1200">
                <a:solidFill>
                  <a:srgbClr val="242F41"/>
                </a:solidFill>
                <a:latin typeface="Aptos"/>
              </a:defRPr>
            </a:pPr>
            <a:r>
              <a:t>•  Binary cross-entropy; accuracy and AUC tracked</a:t>
            </a:r>
          </a:p>
          <a:p>
            <a:pPr>
              <a:spcAft>
                <a:spcPts val="1200"/>
              </a:spcAft>
              <a:defRPr sz="1200">
                <a:solidFill>
                  <a:srgbClr val="242F41"/>
                </a:solidFill>
                <a:latin typeface="Aptos"/>
              </a:defRPr>
            </a:pPr>
            <a:r>
              <a:t>•  Early stopping on validation loss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16052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A6A0"/>
                </a:solidFill>
                <a:latin typeface="Aptos"/>
              </a:defRPr>
            </a:pPr>
            <a:r>
              <a:t>Model 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681728"/>
            <a:ext cx="46634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21E37"/>
                </a:solidFill>
                <a:latin typeface="Aptos"/>
              </a:defRPr>
            </a:pPr>
            <a:r>
              <a:t>25,409 total parameters</a:t>
            </a:r>
          </a:p>
          <a:p>
            <a:pPr>
              <a:spcAft>
                <a:spcPts val="700"/>
              </a:spcAft>
              <a:defRPr sz="1700" b="1">
                <a:solidFill>
                  <a:srgbClr val="121E37"/>
                </a:solidFill>
                <a:latin typeface="Aptos"/>
              </a:defRPr>
            </a:pPr>
            <a:r>
              <a:t>25,217 trainable parameters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53212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D81"/>
                </a:solidFill>
                <a:latin typeface="Aptos"/>
              </a:defRPr>
            </a:pPr>
            <a:r>
              <a:t>Training stopped after 11 epochs in the recorded run.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F6D81"/>
                </a:solidFill>
                <a:latin typeface="Aptos"/>
              </a:defRPr>
            </a:pPr>
            <a:r>
              <a:t>SYSTEMS &amp; SIGNALS  •  PROJECT PROGRESS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81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9A6A0"/>
                </a:solidFill>
                <a:latin typeface="Aptos"/>
              </a:defRPr>
            </a:pPr>
            <a:r>
              <a:t>07  / 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21E37"/>
                </a:solidFill>
                <a:latin typeface="Aptos"/>
              </a:defRPr>
            </a:pPr>
            <a:r>
              <a:t>Preliminary test-set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777240" cy="50292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468880" cy="1143000"/>
          </a:xfrm>
          <a:prstGeom prst="roundRect">
            <a:avLst/>
          </a:prstGeom>
          <a:solidFill>
            <a:srgbClr val="E7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74519"/>
            <a:ext cx="232257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9A6A0"/>
                </a:solidFill>
                <a:latin typeface="Aptos"/>
              </a:defRPr>
            </a:pPr>
            <a:r>
              <a:t>76.26%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50008"/>
            <a:ext cx="23225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5F6D81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84448" y="1691640"/>
            <a:ext cx="2468880" cy="1143000"/>
          </a:xfrm>
          <a:prstGeom prst="roundRect">
            <a:avLst/>
          </a:prstGeom>
          <a:solidFill>
            <a:srgbClr val="E7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74519"/>
            <a:ext cx="232257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21E37"/>
                </a:solidFill>
                <a:latin typeface="Aptos"/>
              </a:defRPr>
            </a:pPr>
            <a:r>
              <a:t>0.8649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50008"/>
            <a:ext cx="23225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5F6D81"/>
                </a:solidFill>
                <a:latin typeface="Aptos"/>
              </a:defRPr>
            </a:pPr>
            <a:r>
              <a:t>ROC–AUC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1691640"/>
            <a:ext cx="2468880" cy="1143000"/>
          </a:xfrm>
          <a:prstGeom prst="roundRect">
            <a:avLst/>
          </a:prstGeom>
          <a:solidFill>
            <a:srgbClr val="E7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874519"/>
            <a:ext cx="232257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F2A359"/>
                </a:solidFill>
                <a:latin typeface="Aptos"/>
              </a:defRPr>
            </a:pPr>
            <a:r>
              <a:t>84%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350008"/>
            <a:ext cx="23225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5F6D81"/>
                </a:solidFill>
                <a:latin typeface="Aptos"/>
              </a:defRPr>
            </a:pPr>
            <a:r>
              <a:t>Apnea precision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0304" y="1691640"/>
            <a:ext cx="2468880" cy="1143000"/>
          </a:xfrm>
          <a:prstGeom prst="roundRect">
            <a:avLst/>
          </a:prstGeom>
          <a:solidFill>
            <a:srgbClr val="E7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3456" y="1874519"/>
            <a:ext cx="2322576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3D9D77"/>
                </a:solidFill>
                <a:latin typeface="Aptos"/>
              </a:defRPr>
            </a:pPr>
            <a:r>
              <a:t>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6" y="2350008"/>
            <a:ext cx="23225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5F6D81"/>
                </a:solidFill>
                <a:latin typeface="Aptos"/>
              </a:defRPr>
            </a:pPr>
            <a:r>
              <a:t>Apnea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4612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1E37"/>
                </a:solidFill>
                <a:latin typeface="Aptos"/>
              </a:defRPr>
            </a:pPr>
            <a:r>
              <a:t>Confusion matrix at threshold = 0.40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68680" y="3657600"/>
          <a:ext cx="46634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17320"/>
                <a:gridCol w="1417320"/>
              </a:tblGrid>
              <a:tr h="4724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</a:p>
                  </a:txBody>
                  <a:tcPr marL="54864" marR="54864">
                    <a:solidFill>
                      <a:srgbClr val="12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Pred Normal</a:t>
                      </a:r>
                    </a:p>
                  </a:txBody>
                  <a:tcPr marL="54864" marR="54864">
                    <a:solidFill>
                      <a:srgbClr val="12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Pred Apnea</a:t>
                      </a:r>
                    </a:p>
                  </a:txBody>
                  <a:tcPr marL="54864" marR="54864">
                    <a:solidFill>
                      <a:srgbClr val="121E37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Actual Normal</a:t>
                      </a:r>
                    </a:p>
                  </a:txBody>
                  <a:tcPr marL="54864" marR="54864">
                    <a:solidFill>
                      <a:srgbClr val="12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2F41"/>
                          </a:solidFill>
                          <a:latin typeface="Aptos"/>
                        </a:defRPr>
                      </a:pPr>
                      <a:r>
                        <a:t>375</a:t>
                      </a:r>
                    </a:p>
                  </a:txBody>
                  <a:tcPr marL="54864" marR="54864">
                    <a:solidFill>
                      <a:srgbClr val="DCF1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2F41"/>
                          </a:solidFill>
                          <a:latin typeface="Aptos"/>
                        </a:defRPr>
                      </a:pPr>
                      <a:r>
                        <a:t>139</a:t>
                      </a:r>
                    </a:p>
                  </a:txBody>
                  <a:tcPr marL="54864" marR="54864">
                    <a:solidFill>
                      <a:srgbClr val="FAE6D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Actual Apnea</a:t>
                      </a:r>
                    </a:p>
                  </a:txBody>
                  <a:tcPr marL="54864" marR="54864">
                    <a:solidFill>
                      <a:srgbClr val="121E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2F41"/>
                          </a:solidFill>
                          <a:latin typeface="Aptos"/>
                        </a:defRPr>
                      </a:pPr>
                      <a:r>
                        <a:t>205</a:t>
                      </a:r>
                    </a:p>
                  </a:txBody>
                  <a:tcPr marL="54864" marR="54864">
                    <a:solidFill>
                      <a:srgbClr val="FAE6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42F41"/>
                          </a:solidFill>
                          <a:latin typeface="Aptos"/>
                        </a:defRPr>
                      </a:pPr>
                      <a:r>
                        <a:t>730</a:t>
                      </a:r>
                    </a:p>
                  </a:txBody>
                  <a:tcPr marL="54864" marR="54864">
                    <a:solidFill>
                      <a:srgbClr val="DCF1EC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80760" y="329184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A6A0"/>
                </a:solidFill>
                <a:latin typeface="Aptos"/>
              </a:defRPr>
            </a:pPr>
            <a:r>
              <a:t>What this 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703320"/>
            <a:ext cx="4937760" cy="17373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242F41"/>
                </a:solidFill>
                <a:latin typeface="Aptos"/>
              </a:defRPr>
            </a:pPr>
            <a:r>
              <a:t>•  The model identifies 730 of 935 apnea windows at the chosen threshold.</a:t>
            </a:r>
          </a:p>
          <a:p>
            <a:pPr>
              <a:spcAft>
                <a:spcPts val="1200"/>
              </a:spcAft>
              <a:defRPr sz="1200">
                <a:solidFill>
                  <a:srgbClr val="242F41"/>
                </a:solidFill>
                <a:latin typeface="Aptos"/>
              </a:defRPr>
            </a:pPr>
            <a:r>
              <a:t>•  205 apnea windows are missed; false negatives remain a key concern.</a:t>
            </a:r>
          </a:p>
          <a:p>
            <a:pPr>
              <a:spcAft>
                <a:spcPts val="1200"/>
              </a:spcAft>
              <a:defRPr sz="1200">
                <a:solidFill>
                  <a:srgbClr val="242F41"/>
                </a:solidFill>
                <a:latin typeface="Aptos"/>
              </a:defRPr>
            </a:pPr>
            <a:r>
              <a:t>•  The 0.40 threshold improves apnea recall compared with the default 0.50 threshold.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23560"/>
            <a:ext cx="10241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D81"/>
                </a:solidFill>
                <a:latin typeface="Aptos"/>
              </a:defRPr>
            </a:pPr>
            <a:r>
              <a:t>These are notebook-run results, not a reproduction of the paper's reported metrics.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5F6D81"/>
                </a:solidFill>
                <a:latin typeface="Aptos"/>
              </a:defRPr>
            </a:pPr>
            <a:r>
              <a:t>SYSTEMS &amp; SIGNALS  •  PROJECT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5F6D81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E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0D5D0"/>
                </a:solidFill>
                <a:latin typeface="Aptos"/>
              </a:defRPr>
            </a:pPr>
            <a:r>
              <a:t>09  /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8FAFC"/>
                </a:solidFill>
                <a:latin typeface="Aptos"/>
              </a:defRPr>
            </a:pPr>
            <a:r>
              <a:t>Current status: a working ECG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777240" cy="50292"/>
          </a:xfrm>
          <a:prstGeom prst="rect">
            <a:avLst/>
          </a:prstGeom>
          <a:solidFill>
            <a:srgbClr val="19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70D5D0"/>
                </a:solidFill>
                <a:latin typeface="Aptos"/>
              </a:defRPr>
            </a:pPr>
            <a:r>
              <a:t>What has been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029200" cy="26517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End-to-end ECG pipeline from PhysioNet records to labeled windows.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Signal filtering, normalization and patient-independent data splits.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Trained 1D CNN with saved model and evaluation artifacts.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Preliminary test accuracy of 76.26% and ROC–AUC of 0.8649.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ECBDA"/>
                </a:solidFill>
                <a:latin typeface="Aptos"/>
              </a:defRPr>
            </a:pPr>
            <a:r>
              <a:t>Prototype for an academic course project. Not a clinical diagnostic tool.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BECBDA"/>
                </a:solidFill>
                <a:latin typeface="Aptos"/>
              </a:defRPr>
            </a:pPr>
            <a:r>
              <a:t>SYSTEMS &amp; SIGNALS  •  PROJECT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ECBD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